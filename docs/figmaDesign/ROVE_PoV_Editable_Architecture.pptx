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8595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10241280" cy="38404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6191D"/>
                </a:solidFill>
                <a:latin typeface="Aptos"/>
              </a:rPr>
              <a:t>2. Proposed 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" y="749808"/>
            <a:ext cx="10570464" cy="7607808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10160">
            <a:solidFill>
              <a:srgbClr val="DA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0952" y="1033271"/>
            <a:ext cx="292608" cy="182880"/>
          </a:xfrm>
          <a:prstGeom prst="rect">
            <a:avLst/>
          </a:prstGeom>
          <a:solidFill>
            <a:srgbClr val="FCFCF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68112" y="1216152"/>
            <a:ext cx="0" cy="82296"/>
          </a:xfrm>
          <a:prstGeom prst="line">
            <a:avLst/>
          </a:prstGeom>
          <a:ln w="16510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385816" y="1298448"/>
            <a:ext cx="164592" cy="0"/>
          </a:xfrm>
          <a:prstGeom prst="line">
            <a:avLst/>
          </a:prstGeom>
          <a:ln w="16510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623560" y="1133856"/>
            <a:ext cx="100584" cy="182880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9144000" cy="3383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6191D"/>
                </a:solidFill>
                <a:latin typeface="Aptos"/>
              </a:rPr>
              <a:t>Customer – ROVE React Web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9144000" cy="24688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6696E"/>
                </a:solidFill>
                <a:latin typeface="Aptos"/>
              </a:rPr>
              <a:t>Vehicle selection • Finance preferences • Resume journey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16936" y="2148840"/>
            <a:ext cx="0" cy="320040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66644" y="2404872"/>
            <a:ext cx="50292" cy="64008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916936" y="2404872"/>
            <a:ext cx="50292" cy="64008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55864" y="2148840"/>
            <a:ext cx="0" cy="320040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05572" y="2404872"/>
            <a:ext cx="50292" cy="64008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055864" y="2404872"/>
            <a:ext cx="50292" cy="64008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" y="2633472"/>
            <a:ext cx="4965192" cy="1545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77840" y="2633472"/>
            <a:ext cx="4965192" cy="1545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70632" y="2880360"/>
            <a:ext cx="292608" cy="128016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816352" y="2944368"/>
            <a:ext cx="18288" cy="0"/>
          </a:xfrm>
          <a:prstGeom prst="line">
            <a:avLst/>
          </a:prstGeom>
          <a:ln w="16510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90088" y="2944368"/>
            <a:ext cx="9144" cy="0"/>
          </a:xfrm>
          <a:prstGeom prst="line">
            <a:avLst/>
          </a:prstGeom>
          <a:ln w="16510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936992" y="2834640"/>
            <a:ext cx="86868" cy="86868"/>
          </a:xfrm>
          <a:prstGeom prst="rect">
            <a:avLst/>
          </a:prstGeom>
          <a:solidFill>
            <a:srgbClr val="16191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3" y="2834640"/>
            <a:ext cx="86868" cy="86868"/>
          </a:xfrm>
          <a:prstGeom prst="rect">
            <a:avLst/>
          </a:prstGeom>
          <a:solidFill>
            <a:srgbClr val="16191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36992" y="2999232"/>
            <a:ext cx="86868" cy="86868"/>
          </a:xfrm>
          <a:prstGeom prst="rect">
            <a:avLst/>
          </a:prstGeom>
          <a:solidFill>
            <a:srgbClr val="16191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3" y="2999232"/>
            <a:ext cx="86868" cy="86868"/>
          </a:xfrm>
          <a:prstGeom prst="rect">
            <a:avLst/>
          </a:prstGeom>
          <a:solidFill>
            <a:srgbClr val="16191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1" y="2916936"/>
            <a:ext cx="86868" cy="86868"/>
          </a:xfrm>
          <a:prstGeom prst="rect">
            <a:avLst/>
          </a:prstGeom>
          <a:solidFill>
            <a:srgbClr val="16191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11312" y="3008376"/>
            <a:ext cx="86868" cy="86868"/>
          </a:xfrm>
          <a:prstGeom prst="rect">
            <a:avLst/>
          </a:prstGeom>
          <a:solidFill>
            <a:srgbClr val="16191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54680"/>
            <a:ext cx="4544568" cy="29260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6191D"/>
                </a:solidFill>
                <a:latin typeface="Aptos"/>
              </a:rPr>
              <a:t>Browser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529584"/>
            <a:ext cx="4517136" cy="2286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6696E"/>
                </a:solidFill>
                <a:latin typeface="Aptos"/>
              </a:rPr>
              <a:t>Local Storage + optional cookie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803904"/>
            <a:ext cx="4517136" cy="21031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6696E"/>
                </a:solidFill>
                <a:latin typeface="Aptos"/>
              </a:rPr>
              <a:t>Journey ID / anonymous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154680"/>
            <a:ext cx="4590288" cy="29260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6191D"/>
                </a:solidFill>
                <a:latin typeface="Aptos"/>
              </a:rPr>
              <a:t>QR Code Generator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3584448"/>
            <a:ext cx="4562856" cy="448056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6696E"/>
                </a:solidFill>
                <a:latin typeface="Aptos"/>
              </a:rPr>
              <a:t>Generate mobile resume URL with opaque token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16936" y="4178808"/>
            <a:ext cx="0" cy="301752"/>
          </a:xfrm>
          <a:prstGeom prst="line">
            <a:avLst/>
          </a:prstGeom>
          <a:ln w="16510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55864" y="4178808"/>
            <a:ext cx="0" cy="301752"/>
          </a:xfrm>
          <a:prstGeom prst="line">
            <a:avLst/>
          </a:prstGeom>
          <a:ln w="16510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16936" y="4480560"/>
            <a:ext cx="5138928" cy="0"/>
          </a:xfrm>
          <a:prstGeom prst="line">
            <a:avLst/>
          </a:prstGeom>
          <a:ln w="16510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86400" y="4480560"/>
            <a:ext cx="0" cy="256032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436108" y="4672584"/>
            <a:ext cx="50292" cy="64008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486400" y="4672584"/>
            <a:ext cx="50292" cy="64008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340096" y="4901184"/>
            <a:ext cx="310896" cy="137160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340096" y="5074920"/>
            <a:ext cx="310896" cy="137160"/>
          </a:xfrm>
          <a:prstGeom prst="roundRect">
            <a:avLst>
              <a:gd name="adj" fmla="val 8000"/>
            </a:avLst>
          </a:prstGeom>
          <a:solidFill>
            <a:srgbClr val="FCFCFD"/>
          </a:solidFill>
          <a:ln w="1016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85816"/>
            <a:ext cx="9144000" cy="310896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16191D"/>
                </a:solidFill>
                <a:latin typeface="Aptos"/>
              </a:rPr>
              <a:t>Existing FastAPI 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33288"/>
            <a:ext cx="9144000" cy="25603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6696E"/>
                </a:solidFill>
                <a:latin typeface="Aptos"/>
              </a:rPr>
              <a:t>Create / Retrieve / Validate / Expire Journey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0" y="6080760"/>
            <a:ext cx="0" cy="283464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436108" y="6300216"/>
            <a:ext cx="50292" cy="64008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486400" y="6300216"/>
            <a:ext cx="50292" cy="64008"/>
          </a:xfrm>
          <a:prstGeom prst="line">
            <a:avLst/>
          </a:prstGeom>
          <a:ln w="15240">
            <a:solidFill>
              <a:srgbClr val="8C8F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29768" y="6537960"/>
            <a:ext cx="10113264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an 45"/>
          <p:cNvSpPr/>
          <p:nvPr/>
        </p:nvSpPr>
        <p:spPr>
          <a:xfrm>
            <a:off x="5367528" y="6675120"/>
            <a:ext cx="246888" cy="246888"/>
          </a:xfrm>
          <a:prstGeom prst="can">
            <a:avLst/>
          </a:prstGeom>
          <a:solidFill>
            <a:srgbClr val="FFFFFF"/>
          </a:solidFill>
          <a:ln w="12700">
            <a:solidFill>
              <a:srgbClr val="161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940296"/>
            <a:ext cx="95097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6191D"/>
                </a:solidFill>
                <a:latin typeface="Aptos"/>
              </a:rPr>
              <a:t>Existing PostgreSQL Database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7278624"/>
            <a:ext cx="950976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66696E"/>
                </a:solidFill>
                <a:latin typeface="Aptos"/>
              </a:rPr>
              <a:t>Anonymous journey configuration + token expiry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9768" y="7690104"/>
            <a:ext cx="10113264" cy="457200"/>
          </a:xfrm>
          <a:prstGeom prst="roundRect">
            <a:avLst>
              <a:gd name="adj" fmla="val 8000"/>
            </a:avLst>
          </a:prstGeom>
          <a:solidFill>
            <a:srgbClr val="F9FAFA"/>
          </a:solidFill>
          <a:ln w="10160">
            <a:solidFill>
              <a:srgbClr val="F9F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37560" y="7763256"/>
            <a:ext cx="320040" cy="265176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CAD58"/>
                </a:solidFill>
                <a:latin typeface="Aptos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7790688"/>
            <a:ext cx="4663440" cy="2286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91D"/>
                </a:solidFill>
                <a:latin typeface="Aptos"/>
              </a:rPr>
              <a:t>No real customer PII, credentials or credit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